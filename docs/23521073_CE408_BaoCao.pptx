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6858000" cy="9144000"/>
  <p:embeddedFontLst>
    <p:embeddedFont>
      <p:font typeface="Arial Bold" panose="020B0704020202020204" pitchFamily="34" charset="0"/>
      <p:regular r:id="rId42"/>
      <p:bold r:id="rId43"/>
    </p:embeddedFont>
    <p:embeddedFont>
      <p:font typeface="Times New Roman Bold" panose="02020803070505020304" pitchFamily="18" charset="0"/>
      <p:regular r:id="rId44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804" y="1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src.nist.gov/projects/lightweight-cryptography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950614" cy="10287000"/>
            <a:chOff x="0" y="0"/>
            <a:chExt cx="12674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460" cy="13716000"/>
            </a:xfrm>
            <a:custGeom>
              <a:avLst/>
              <a:gdLst/>
              <a:ahLst/>
              <a:cxnLst/>
              <a:rect l="l" t="t" r="r" b="b"/>
              <a:pathLst>
                <a:path w="1267460" h="13716000">
                  <a:moveTo>
                    <a:pt x="0" y="0"/>
                  </a:moveTo>
                  <a:lnTo>
                    <a:pt x="1267460" y="0"/>
                  </a:lnTo>
                  <a:lnTo>
                    <a:pt x="12674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950614" cy="10287000"/>
            <a:chOff x="0" y="0"/>
            <a:chExt cx="1267485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7460" cy="13716000"/>
            </a:xfrm>
            <a:custGeom>
              <a:avLst/>
              <a:gdLst/>
              <a:ahLst/>
              <a:cxnLst/>
              <a:rect l="l" t="t" r="r" b="b"/>
              <a:pathLst>
                <a:path w="1267460" h="13716000">
                  <a:moveTo>
                    <a:pt x="0" y="0"/>
                  </a:moveTo>
                  <a:lnTo>
                    <a:pt x="1267460" y="0"/>
                  </a:lnTo>
                  <a:lnTo>
                    <a:pt x="126746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51" r="-29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US" dirty="0"/>
          </a:p>
        </p:txBody>
      </p:sp>
      <p:grpSp>
        <p:nvGrpSpPr>
          <p:cNvPr id="11" name="Group 11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6" name="Freeform 16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8" name="Freeform 18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46595" y="2986697"/>
            <a:ext cx="15098336" cy="3455337"/>
            <a:chOff x="0" y="0"/>
            <a:chExt cx="20131114" cy="46071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31114" cy="4607116"/>
            </a:xfrm>
            <a:custGeom>
              <a:avLst/>
              <a:gdLst/>
              <a:ahLst/>
              <a:cxnLst/>
              <a:rect l="l" t="t" r="r" b="b"/>
              <a:pathLst>
                <a:path w="20131114" h="4607116">
                  <a:moveTo>
                    <a:pt x="0" y="0"/>
                  </a:moveTo>
                  <a:lnTo>
                    <a:pt x="20131114" y="0"/>
                  </a:lnTo>
                  <a:lnTo>
                    <a:pt x="20131114" y="4607116"/>
                  </a:lnTo>
                  <a:lnTo>
                    <a:pt x="0" y="46071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7116" r="8903" b="-18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20131114" cy="4559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776"/>
                </a:lnSpc>
              </a:pPr>
              <a:r>
                <a:rPr lang="en-US" sz="7200" b="1">
                  <a:gradFill>
                    <a:gsLst>
                      <a:gs pos="0">
                        <a:srgbClr val="11998E">
                          <a:alpha val="100000"/>
                        </a:srgbClr>
                      </a:gs>
                      <a:gs pos="100000">
                        <a:srgbClr val="38EF7D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Thiết kế và kiểm chứng lõi IP mật mã Ascon-AEAD128 tích hợp chuẩn giao tiếp AMBA APB trên FPGA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221474" y="1882850"/>
            <a:ext cx="3548577" cy="571500"/>
            <a:chOff x="0" y="0"/>
            <a:chExt cx="4731436" cy="76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31436" cy="762000"/>
            </a:xfrm>
            <a:custGeom>
              <a:avLst/>
              <a:gdLst/>
              <a:ahLst/>
              <a:cxnLst/>
              <a:rect l="l" t="t" r="r" b="b"/>
              <a:pathLst>
                <a:path w="4731436" h="762000">
                  <a:moveTo>
                    <a:pt x="0" y="0"/>
                  </a:moveTo>
                  <a:lnTo>
                    <a:pt x="4731436" y="0"/>
                  </a:lnTo>
                  <a:lnTo>
                    <a:pt x="4731436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4731436" cy="762000"/>
              <a:chOff x="0" y="0"/>
              <a:chExt cx="4731436" cy="762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731434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731434" h="762000">
                    <a:moveTo>
                      <a:pt x="0" y="0"/>
                    </a:moveTo>
                    <a:lnTo>
                      <a:pt x="4731434" y="0"/>
                    </a:lnTo>
                    <a:lnTo>
                      <a:pt x="4731434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70987" b="-7098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4731436" cy="7620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44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ĐỒ ÁN</a:t>
                </a:r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2229202" y="6775409"/>
            <a:ext cx="13533120" cy="139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3600" b="1">
                <a:solidFill>
                  <a:srgbClr val="029676"/>
                </a:solidFill>
                <a:latin typeface="Arial Bold"/>
                <a:ea typeface="Arial Bold"/>
                <a:cs typeface="Arial Bold"/>
                <a:sym typeface="Arial Bold"/>
              </a:rPr>
              <a:t>GVHD: ThS. Tạ Trí Đức</a:t>
            </a:r>
          </a:p>
          <a:p>
            <a:pPr marL="651510" lvl="1" indent="-325755" algn="l">
              <a:lnSpc>
                <a:spcPts val="5616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Hồ Thiện Nhân 23521073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35996"/>
            <a:chOff x="0" y="0"/>
            <a:chExt cx="21960002" cy="17813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81326"/>
            </a:xfrm>
            <a:custGeom>
              <a:avLst/>
              <a:gdLst/>
              <a:ahLst/>
              <a:cxnLst/>
              <a:rect l="l" t="t" r="r" b="b"/>
              <a:pathLst>
                <a:path w="21960001" h="1781326">
                  <a:moveTo>
                    <a:pt x="0" y="0"/>
                  </a:moveTo>
                  <a:lnTo>
                    <a:pt x="21960001" y="0"/>
                  </a:lnTo>
                  <a:lnTo>
                    <a:pt x="21960001" y="1781326"/>
                  </a:lnTo>
                  <a:lnTo>
                    <a:pt x="0" y="17813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90209" b="-1902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43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Nội dung báo cáo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14899291" y="5775646"/>
            <a:ext cx="6172200" cy="547688"/>
            <a:chOff x="0" y="0"/>
            <a:chExt cx="8229600" cy="7302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634421" y="9520237"/>
            <a:ext cx="4114800" cy="561976"/>
            <a:chOff x="0" y="-19051"/>
            <a:chExt cx="5486400" cy="74930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35459" y="3128010"/>
            <a:ext cx="11683841" cy="1451134"/>
            <a:chOff x="0" y="0"/>
            <a:chExt cx="15578455" cy="19348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578455" cy="1934845"/>
            </a:xfrm>
            <a:custGeom>
              <a:avLst/>
              <a:gdLst/>
              <a:ahLst/>
              <a:cxnLst/>
              <a:rect l="l" t="t" r="r" b="b"/>
              <a:pathLst>
                <a:path w="15578455" h="193484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15447518" y="0"/>
                  </a:lnTo>
                  <a:cubicBezTo>
                    <a:pt x="15519781" y="0"/>
                    <a:pt x="15578455" y="58674"/>
                    <a:pt x="15578455" y="130937"/>
                  </a:cubicBezTo>
                  <a:lnTo>
                    <a:pt x="15578455" y="1803908"/>
                  </a:lnTo>
                  <a:cubicBezTo>
                    <a:pt x="15578455" y="1876171"/>
                    <a:pt x="15519781" y="1934845"/>
                    <a:pt x="15447518" y="1934845"/>
                  </a:cubicBezTo>
                  <a:lnTo>
                    <a:pt x="130937" y="1934845"/>
                  </a:lnTo>
                  <a:cubicBezTo>
                    <a:pt x="58674" y="1934845"/>
                    <a:pt x="0" y="1876171"/>
                    <a:pt x="0" y="180390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715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89509" y="3398158"/>
            <a:ext cx="910828" cy="910828"/>
            <a:chOff x="0" y="0"/>
            <a:chExt cx="1214438" cy="12144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4501" cy="1214501"/>
            </a:xfrm>
            <a:custGeom>
              <a:avLst/>
              <a:gdLst/>
              <a:ahLst/>
              <a:cxnLst/>
              <a:rect l="l" t="t" r="r" b="b"/>
              <a:pathLst>
                <a:path w="1214501" h="1214501">
                  <a:moveTo>
                    <a:pt x="0" y="607187"/>
                  </a:moveTo>
                  <a:cubicBezTo>
                    <a:pt x="0" y="271907"/>
                    <a:pt x="271907" y="0"/>
                    <a:pt x="607187" y="0"/>
                  </a:cubicBezTo>
                  <a:cubicBezTo>
                    <a:pt x="942467" y="0"/>
                    <a:pt x="1214501" y="271907"/>
                    <a:pt x="1214501" y="607187"/>
                  </a:cubicBezTo>
                  <a:cubicBezTo>
                    <a:pt x="1214501" y="942467"/>
                    <a:pt x="942594" y="1214501"/>
                    <a:pt x="607187" y="1214501"/>
                  </a:cubicBezTo>
                  <a:cubicBezTo>
                    <a:pt x="271780" y="1214501"/>
                    <a:pt x="0" y="942594"/>
                    <a:pt x="0" y="607187"/>
                  </a:cubicBezTo>
                  <a:close/>
                </a:path>
              </a:pathLst>
            </a:custGeom>
            <a:solidFill>
              <a:srgbClr val="10CD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214438" cy="1233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93597" y="3507324"/>
            <a:ext cx="10411416" cy="692496"/>
            <a:chOff x="0" y="0"/>
            <a:chExt cx="13881887" cy="9233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881881" cy="923330"/>
            </a:xfrm>
            <a:custGeom>
              <a:avLst/>
              <a:gdLst/>
              <a:ahLst/>
              <a:cxnLst/>
              <a:rect l="l" t="t" r="r" b="b"/>
              <a:pathLst>
                <a:path w="13881881" h="923330">
                  <a:moveTo>
                    <a:pt x="0" y="0"/>
                  </a:moveTo>
                  <a:lnTo>
                    <a:pt x="13881881" y="0"/>
                  </a:lnTo>
                  <a:lnTo>
                    <a:pt x="13881881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2949" b="-2429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13881887" cy="951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Tổng</a:t>
              </a:r>
              <a:r>
                <a:rPr lang="en-US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quan</a:t>
              </a:r>
              <a:r>
                <a:rPr lang="en-US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đề</a:t>
              </a:r>
              <a:r>
                <a:rPr lang="en-US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tài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35459" y="4868504"/>
            <a:ext cx="11683841" cy="1451134"/>
            <a:chOff x="0" y="0"/>
            <a:chExt cx="15578455" cy="19348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578455" cy="1934845"/>
            </a:xfrm>
            <a:custGeom>
              <a:avLst/>
              <a:gdLst/>
              <a:ahLst/>
              <a:cxnLst/>
              <a:rect l="l" t="t" r="r" b="b"/>
              <a:pathLst>
                <a:path w="15578455" h="193484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15447518" y="0"/>
                  </a:lnTo>
                  <a:cubicBezTo>
                    <a:pt x="15519781" y="0"/>
                    <a:pt x="15578455" y="58674"/>
                    <a:pt x="15578455" y="130937"/>
                  </a:cubicBezTo>
                  <a:lnTo>
                    <a:pt x="15578455" y="1803908"/>
                  </a:lnTo>
                  <a:cubicBezTo>
                    <a:pt x="15578455" y="1876171"/>
                    <a:pt x="15519781" y="1934845"/>
                    <a:pt x="15447518" y="1934845"/>
                  </a:cubicBezTo>
                  <a:lnTo>
                    <a:pt x="130937" y="1934845"/>
                  </a:lnTo>
                  <a:cubicBezTo>
                    <a:pt x="58674" y="1934845"/>
                    <a:pt x="0" y="1876171"/>
                    <a:pt x="0" y="1803908"/>
                  </a:cubicBezTo>
                  <a:close/>
                </a:path>
              </a:pathLst>
            </a:custGeom>
            <a:solidFill>
              <a:srgbClr val="027159"/>
            </a:solidFill>
            <a:ln w="28575" cap="sq">
              <a:solidFill>
                <a:srgbClr val="02715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89509" y="5138661"/>
            <a:ext cx="910828" cy="910828"/>
            <a:chOff x="0" y="0"/>
            <a:chExt cx="1214438" cy="12144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4501" cy="1214501"/>
            </a:xfrm>
            <a:custGeom>
              <a:avLst/>
              <a:gdLst/>
              <a:ahLst/>
              <a:cxnLst/>
              <a:rect l="l" t="t" r="r" b="b"/>
              <a:pathLst>
                <a:path w="1214501" h="1214501">
                  <a:moveTo>
                    <a:pt x="0" y="607187"/>
                  </a:moveTo>
                  <a:cubicBezTo>
                    <a:pt x="0" y="271907"/>
                    <a:pt x="271907" y="0"/>
                    <a:pt x="607187" y="0"/>
                  </a:cubicBezTo>
                  <a:cubicBezTo>
                    <a:pt x="942467" y="0"/>
                    <a:pt x="1214501" y="271907"/>
                    <a:pt x="1214501" y="607187"/>
                  </a:cubicBezTo>
                  <a:cubicBezTo>
                    <a:pt x="1214501" y="942467"/>
                    <a:pt x="942594" y="1214501"/>
                    <a:pt x="607187" y="1214501"/>
                  </a:cubicBezTo>
                  <a:cubicBezTo>
                    <a:pt x="271780" y="1214501"/>
                    <a:pt x="0" y="942594"/>
                    <a:pt x="0" y="607187"/>
                  </a:cubicBezTo>
                  <a:close/>
                </a:path>
              </a:pathLst>
            </a:custGeom>
            <a:solidFill>
              <a:srgbClr val="10CD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214438" cy="1233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793597" y="5247818"/>
            <a:ext cx="9913868" cy="692496"/>
            <a:chOff x="0" y="0"/>
            <a:chExt cx="13218490" cy="9233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218495" cy="923330"/>
            </a:xfrm>
            <a:custGeom>
              <a:avLst/>
              <a:gdLst/>
              <a:ahLst/>
              <a:cxnLst/>
              <a:rect l="l" t="t" r="r" b="b"/>
              <a:pathLst>
                <a:path w="13218495" h="923330">
                  <a:moveTo>
                    <a:pt x="0" y="0"/>
                  </a:moveTo>
                  <a:lnTo>
                    <a:pt x="13218495" y="0"/>
                  </a:lnTo>
                  <a:lnTo>
                    <a:pt x="13218495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8949" b="-2289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3218490" cy="951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Giải pháp đề xuất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35459" y="6609007"/>
            <a:ext cx="11683841" cy="1451134"/>
            <a:chOff x="0" y="0"/>
            <a:chExt cx="15578455" cy="193484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578455" cy="1934845"/>
            </a:xfrm>
            <a:custGeom>
              <a:avLst/>
              <a:gdLst/>
              <a:ahLst/>
              <a:cxnLst/>
              <a:rect l="l" t="t" r="r" b="b"/>
              <a:pathLst>
                <a:path w="15578455" h="193484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15447518" y="0"/>
                  </a:lnTo>
                  <a:cubicBezTo>
                    <a:pt x="15519781" y="0"/>
                    <a:pt x="15578455" y="58674"/>
                    <a:pt x="15578455" y="130937"/>
                  </a:cubicBezTo>
                  <a:lnTo>
                    <a:pt x="15578455" y="1803908"/>
                  </a:lnTo>
                  <a:cubicBezTo>
                    <a:pt x="15578455" y="1876171"/>
                    <a:pt x="15519781" y="1934845"/>
                    <a:pt x="15447518" y="1934845"/>
                  </a:cubicBezTo>
                  <a:lnTo>
                    <a:pt x="130937" y="1934845"/>
                  </a:lnTo>
                  <a:cubicBezTo>
                    <a:pt x="58674" y="1934845"/>
                    <a:pt x="0" y="1876171"/>
                    <a:pt x="0" y="180390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715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789509" y="6879155"/>
            <a:ext cx="910828" cy="910828"/>
            <a:chOff x="0" y="0"/>
            <a:chExt cx="1214438" cy="12144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14501" cy="1214501"/>
            </a:xfrm>
            <a:custGeom>
              <a:avLst/>
              <a:gdLst/>
              <a:ahLst/>
              <a:cxnLst/>
              <a:rect l="l" t="t" r="r" b="b"/>
              <a:pathLst>
                <a:path w="1214501" h="1214501">
                  <a:moveTo>
                    <a:pt x="0" y="607187"/>
                  </a:moveTo>
                  <a:cubicBezTo>
                    <a:pt x="0" y="271907"/>
                    <a:pt x="271907" y="0"/>
                    <a:pt x="607187" y="0"/>
                  </a:cubicBezTo>
                  <a:cubicBezTo>
                    <a:pt x="942467" y="0"/>
                    <a:pt x="1214501" y="271907"/>
                    <a:pt x="1214501" y="607187"/>
                  </a:cubicBezTo>
                  <a:cubicBezTo>
                    <a:pt x="1214501" y="942467"/>
                    <a:pt x="942594" y="1214501"/>
                    <a:pt x="607187" y="1214501"/>
                  </a:cubicBezTo>
                  <a:cubicBezTo>
                    <a:pt x="271780" y="1214501"/>
                    <a:pt x="0" y="942594"/>
                    <a:pt x="0" y="607187"/>
                  </a:cubicBezTo>
                  <a:close/>
                </a:path>
              </a:pathLst>
            </a:custGeom>
            <a:solidFill>
              <a:srgbClr val="10CD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214438" cy="1233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793597" y="6988321"/>
            <a:ext cx="9913868" cy="692496"/>
            <a:chOff x="0" y="0"/>
            <a:chExt cx="13218490" cy="92332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218495" cy="923330"/>
            </a:xfrm>
            <a:custGeom>
              <a:avLst/>
              <a:gdLst/>
              <a:ahLst/>
              <a:cxnLst/>
              <a:rect l="l" t="t" r="r" b="b"/>
              <a:pathLst>
                <a:path w="13218495" h="923330">
                  <a:moveTo>
                    <a:pt x="0" y="0"/>
                  </a:moveTo>
                  <a:lnTo>
                    <a:pt x="13218495" y="0"/>
                  </a:lnTo>
                  <a:lnTo>
                    <a:pt x="13218495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8949" b="-2289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13218490" cy="951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Kết quả giải pháp đề xuất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35459" y="8349501"/>
            <a:ext cx="11683841" cy="1451134"/>
            <a:chOff x="0" y="0"/>
            <a:chExt cx="15578455" cy="19348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578455" cy="1934845"/>
            </a:xfrm>
            <a:custGeom>
              <a:avLst/>
              <a:gdLst/>
              <a:ahLst/>
              <a:cxnLst/>
              <a:rect l="l" t="t" r="r" b="b"/>
              <a:pathLst>
                <a:path w="15578455" h="193484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15447518" y="0"/>
                  </a:lnTo>
                  <a:cubicBezTo>
                    <a:pt x="15519781" y="0"/>
                    <a:pt x="15578455" y="58674"/>
                    <a:pt x="15578455" y="130937"/>
                  </a:cubicBezTo>
                  <a:lnTo>
                    <a:pt x="15578455" y="1803908"/>
                  </a:lnTo>
                  <a:cubicBezTo>
                    <a:pt x="15578455" y="1876171"/>
                    <a:pt x="15519781" y="1934845"/>
                    <a:pt x="15447518" y="1934845"/>
                  </a:cubicBezTo>
                  <a:lnTo>
                    <a:pt x="130937" y="1934845"/>
                  </a:lnTo>
                  <a:cubicBezTo>
                    <a:pt x="58674" y="1934845"/>
                    <a:pt x="0" y="1876171"/>
                    <a:pt x="0" y="1803908"/>
                  </a:cubicBezTo>
                  <a:close/>
                </a:path>
              </a:pathLst>
            </a:custGeom>
            <a:solidFill>
              <a:srgbClr val="027159"/>
            </a:solidFill>
            <a:ln w="28575" cap="sq">
              <a:solidFill>
                <a:srgbClr val="02715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789509" y="8619649"/>
            <a:ext cx="910828" cy="910828"/>
            <a:chOff x="0" y="0"/>
            <a:chExt cx="1214438" cy="12144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4501" cy="1214501"/>
            </a:xfrm>
            <a:custGeom>
              <a:avLst/>
              <a:gdLst/>
              <a:ahLst/>
              <a:cxnLst/>
              <a:rect l="l" t="t" r="r" b="b"/>
              <a:pathLst>
                <a:path w="1214501" h="1214501">
                  <a:moveTo>
                    <a:pt x="0" y="607187"/>
                  </a:moveTo>
                  <a:cubicBezTo>
                    <a:pt x="0" y="271907"/>
                    <a:pt x="271907" y="0"/>
                    <a:pt x="607187" y="0"/>
                  </a:cubicBezTo>
                  <a:cubicBezTo>
                    <a:pt x="942467" y="0"/>
                    <a:pt x="1214501" y="271907"/>
                    <a:pt x="1214501" y="607187"/>
                  </a:cubicBezTo>
                  <a:cubicBezTo>
                    <a:pt x="1214501" y="942467"/>
                    <a:pt x="942594" y="1214501"/>
                    <a:pt x="607187" y="1214501"/>
                  </a:cubicBezTo>
                  <a:cubicBezTo>
                    <a:pt x="271780" y="1214501"/>
                    <a:pt x="0" y="942594"/>
                    <a:pt x="0" y="607187"/>
                  </a:cubicBezTo>
                  <a:close/>
                </a:path>
              </a:pathLst>
            </a:custGeom>
            <a:solidFill>
              <a:srgbClr val="10CD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1214438" cy="1233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793597" y="8728815"/>
            <a:ext cx="9913868" cy="692496"/>
            <a:chOff x="0" y="0"/>
            <a:chExt cx="13218490" cy="9233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3218495" cy="923330"/>
            </a:xfrm>
            <a:custGeom>
              <a:avLst/>
              <a:gdLst/>
              <a:ahLst/>
              <a:cxnLst/>
              <a:rect l="l" t="t" r="r" b="b"/>
              <a:pathLst>
                <a:path w="13218495" h="923330">
                  <a:moveTo>
                    <a:pt x="0" y="0"/>
                  </a:moveTo>
                  <a:lnTo>
                    <a:pt x="13218495" y="0"/>
                  </a:lnTo>
                  <a:lnTo>
                    <a:pt x="13218495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8949" b="-2289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13218490" cy="951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Kết luận và hướng phát triển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0043" y="3638074"/>
            <a:ext cx="13766321" cy="2258930"/>
            <a:chOff x="0" y="0"/>
            <a:chExt cx="18355094" cy="3011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55097" cy="3011906"/>
            </a:xfrm>
            <a:custGeom>
              <a:avLst/>
              <a:gdLst/>
              <a:ahLst/>
              <a:cxnLst/>
              <a:rect l="l" t="t" r="r" b="b"/>
              <a:pathLst>
                <a:path w="18355097" h="3011906">
                  <a:moveTo>
                    <a:pt x="0" y="0"/>
                  </a:moveTo>
                  <a:lnTo>
                    <a:pt x="18355097" y="0"/>
                  </a:lnTo>
                  <a:lnTo>
                    <a:pt x="18355097" y="3011906"/>
                  </a:lnTo>
                  <a:lnTo>
                    <a:pt x="0" y="30119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745" b="-68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18355094" cy="2973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TỔNG QUAN</a:t>
              </a:r>
            </a:p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ĐỀ TÀI NGHIÊN CỨU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71483" y="1020985"/>
            <a:ext cx="2896076" cy="245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0"/>
              </a:lnSpc>
            </a:pPr>
            <a:r>
              <a:rPr lang="en-US" sz="17250" b="1">
                <a:solidFill>
                  <a:srgbClr val="FFFFFF">
                    <a:alpha val="65098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1.1. Bối cảnh và mục tiêu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08999" y="2956246"/>
            <a:ext cx="16285434" cy="328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bị IoT bị ràng buộc chặt về diện tích, công suất, tài nguyên AES-GCM đòi hỏi tài nguyên vượt quá khả năng của lớp thiết bị này NIST chọn Ascon 2/2023, ban hành SP 800-232 tháng 8/2025 Tên đề tài đăng ký ASCON-128, nội dung hiện thực Ascon-AEAD128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1.1. Bối cảnh và mục tiêu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08999" y="2956246"/>
            <a:ext cx="16285434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 tiêu Thiết kế và kiểm chứng lõi IP bằng Verilog-2001, đóng gói giao diện APB Khảo sát PPA trên nhiều vi kiến trúc và nhiều dòng FPGA 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Năm tiêu chí nghiệm thu, đạt bốn Chưa đạt mô phỏng gate-level có chú thích SDF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0043" y="3638074"/>
            <a:ext cx="13766321" cy="2258930"/>
            <a:chOff x="0" y="0"/>
            <a:chExt cx="18355094" cy="3011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55097" cy="3011906"/>
            </a:xfrm>
            <a:custGeom>
              <a:avLst/>
              <a:gdLst/>
              <a:ahLst/>
              <a:cxnLst/>
              <a:rect l="l" t="t" r="r" b="b"/>
              <a:pathLst>
                <a:path w="18355097" h="3011906">
                  <a:moveTo>
                    <a:pt x="0" y="0"/>
                  </a:moveTo>
                  <a:lnTo>
                    <a:pt x="18355097" y="0"/>
                  </a:lnTo>
                  <a:lnTo>
                    <a:pt x="18355097" y="3011906"/>
                  </a:lnTo>
                  <a:lnTo>
                    <a:pt x="0" y="30119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745" b="-68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18355094" cy="2973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GIẢI PHÁP ĐỀ XUẤT</a:t>
              </a:r>
            </a:p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CỦA ĐỀ TÀI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71483" y="1020985"/>
            <a:ext cx="2896076" cy="245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0"/>
              </a:lnSpc>
            </a:pPr>
            <a:r>
              <a:rPr lang="en-US" sz="17250" b="1">
                <a:solidFill>
                  <a:srgbClr val="FFFFFF">
                    <a:alpha val="65098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2.1. Thuật toán Ascon-AEAD128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411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Trạng thái 320 bit, rate 128 bit, capacity 192 bit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Khóa, nonce, tag đều 128 bit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Khởi tạo p12, xử lý AD p8, xử lý bản rõ p8, hoàn tất p12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Khối bản rõ cuối không chạy p8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2.1. Thuật toán Ascon-AEAD128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708047" y="2899096"/>
            <a:ext cx="14875621" cy="6635429"/>
          </a:xfrm>
          <a:custGeom>
            <a:avLst/>
            <a:gdLst/>
            <a:ahLst/>
            <a:cxnLst/>
            <a:rect l="l" t="t" r="r" b="b"/>
            <a:pathLst>
              <a:path w="14875621" h="6635429">
                <a:moveTo>
                  <a:pt x="0" y="0"/>
                </a:moveTo>
                <a:lnTo>
                  <a:pt x="14875621" y="0"/>
                </a:lnTo>
                <a:lnTo>
                  <a:pt x="14875621" y="6635429"/>
                </a:lnTo>
                <a:lnTo>
                  <a:pt x="0" y="6635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2.2. Khác biệt với bản Ascon-128 v1.2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6807460" y="2705889"/>
            <a:ext cx="9566384" cy="6828636"/>
          </a:xfrm>
          <a:custGeom>
            <a:avLst/>
            <a:gdLst/>
            <a:ahLst/>
            <a:cxnLst/>
            <a:rect l="l" t="t" r="r" b="b"/>
            <a:pathLst>
              <a:path w="9566384" h="6828636">
                <a:moveTo>
                  <a:pt x="0" y="0"/>
                </a:moveTo>
                <a:lnTo>
                  <a:pt x="9566385" y="0"/>
                </a:lnTo>
                <a:lnTo>
                  <a:pt x="9566385" y="6828636"/>
                </a:lnTo>
                <a:lnTo>
                  <a:pt x="0" y="68286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8999" y="2905201"/>
            <a:ext cx="5383876" cy="24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 biến thể cho ra bản mã và tag hoàn toàn khác nhau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2.3. Kiến trúc lõi IP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6049385" y="2899096"/>
            <a:ext cx="12032151" cy="6340018"/>
          </a:xfrm>
          <a:custGeom>
            <a:avLst/>
            <a:gdLst/>
            <a:ahLst/>
            <a:cxnLst/>
            <a:rect l="l" t="t" r="r" b="b"/>
            <a:pathLst>
              <a:path w="12032151" h="6340018">
                <a:moveTo>
                  <a:pt x="0" y="0"/>
                </a:moveTo>
                <a:lnTo>
                  <a:pt x="12032151" y="0"/>
                </a:lnTo>
                <a:lnTo>
                  <a:pt x="12032151" y="6340019"/>
                </a:lnTo>
                <a:lnTo>
                  <a:pt x="0" y="6340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1866" y="3017220"/>
            <a:ext cx="5841009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ascon_apb, ascon_aead_fsm, ascon_perm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hệ sở hữu một chiều, không tham chiếu ngược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2.4. Datapath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6807460" y="1650115"/>
            <a:ext cx="10249733" cy="7884410"/>
          </a:xfrm>
          <a:custGeom>
            <a:avLst/>
            <a:gdLst/>
            <a:ahLst/>
            <a:cxnLst/>
            <a:rect l="l" t="t" r="r" b="b"/>
            <a:pathLst>
              <a:path w="10249733" h="7884410">
                <a:moveTo>
                  <a:pt x="0" y="0"/>
                </a:moveTo>
                <a:lnTo>
                  <a:pt x="10249733" y="0"/>
                </a:lnTo>
                <a:lnTo>
                  <a:pt x="10249733" y="7884410"/>
                </a:lnTo>
                <a:lnTo>
                  <a:pt x="0" y="7884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1866" y="3017220"/>
            <a:ext cx="5841009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Thanh ghi trạng thái 320 bit là điểm neo duy nhất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 hằng số vòng bằng khối case, không dùng mảng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hợp xác nhận 0 Block RAM, 0 DSP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2.5. Máy trạng thái điều khiển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8082250" y="2721517"/>
            <a:ext cx="8880593" cy="6813008"/>
          </a:xfrm>
          <a:custGeom>
            <a:avLst/>
            <a:gdLst/>
            <a:ahLst/>
            <a:cxnLst/>
            <a:rect l="l" t="t" r="r" b="b"/>
            <a:pathLst>
              <a:path w="8880593" h="6813008">
                <a:moveTo>
                  <a:pt x="0" y="0"/>
                </a:moveTo>
                <a:lnTo>
                  <a:pt x="8880592" y="0"/>
                </a:lnTo>
                <a:lnTo>
                  <a:pt x="8880592" y="6813008"/>
                </a:lnTo>
                <a:lnTo>
                  <a:pt x="0" y="6813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8999" y="2956246"/>
            <a:ext cx="6214408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Bảy trạng thái, S_PERM dùng chung cho p12 và p8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p8 luôn chạy sau mỗi khối AD, kể cả khối cuối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p8 không bao giờ chạy sau khối bản rõ cuối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2.6. Giao diện APB và register map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Tập tín hiệu APB3, vai trò slave, zero-wait-state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giao dịch đúng 2 chu kỳ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 map 32 bit, offset 0x00 đến 0x6C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CMD, STATUS điều khiển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KEY, NONCE, DIN, DOUT, TAG, TAGIN dữ liệu 128 bit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chỉ ghi, đọc trả về 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2.7. Ba phương án vi kiến trúc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ROUNDS_PER_CYCLE nhận 1, 2 và 4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 vòng ascon_round nối tiếp tổ hợp trong một chu kỳ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N(A,T) = (3 + 24/R) + (1 + 8/R)·(A + T)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 kỳ điều khiển cố định không co theo R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0043" y="3638074"/>
            <a:ext cx="13766321" cy="2258930"/>
            <a:chOff x="0" y="0"/>
            <a:chExt cx="18355094" cy="3011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55097" cy="3011906"/>
            </a:xfrm>
            <a:custGeom>
              <a:avLst/>
              <a:gdLst/>
              <a:ahLst/>
              <a:cxnLst/>
              <a:rect l="l" t="t" r="r" b="b"/>
              <a:pathLst>
                <a:path w="18355097" h="3011906">
                  <a:moveTo>
                    <a:pt x="0" y="0"/>
                  </a:moveTo>
                  <a:lnTo>
                    <a:pt x="18355097" y="0"/>
                  </a:lnTo>
                  <a:lnTo>
                    <a:pt x="18355097" y="3011906"/>
                  </a:lnTo>
                  <a:lnTo>
                    <a:pt x="0" y="30119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745" b="-68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18355094" cy="2973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QUẢ CỦA</a:t>
              </a:r>
            </a:p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GIẢI PHÁP ĐỀ XUẤT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71483" y="1020985"/>
            <a:ext cx="2896076" cy="245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0"/>
              </a:lnSpc>
            </a:pPr>
            <a:r>
              <a:rPr lang="en-US" sz="17250" b="1">
                <a:solidFill>
                  <a:srgbClr val="FFFFFF">
                    <a:alpha val="65098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3.1. Kiểm chứng chức năng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7101728" y="2899096"/>
            <a:ext cx="6996050" cy="6635429"/>
          </a:xfrm>
          <a:custGeom>
            <a:avLst/>
            <a:gdLst/>
            <a:ahLst/>
            <a:cxnLst/>
            <a:rect l="l" t="t" r="r" b="b"/>
            <a:pathLst>
              <a:path w="6996050" h="6635429">
                <a:moveTo>
                  <a:pt x="0" y="0"/>
                </a:moveTo>
                <a:lnTo>
                  <a:pt x="6996050" y="0"/>
                </a:lnTo>
                <a:lnTo>
                  <a:pt x="6996050" y="6635429"/>
                </a:lnTo>
                <a:lnTo>
                  <a:pt x="0" y="6635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8999" y="3063571"/>
            <a:ext cx="5570575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hình tham chiếu Python làm chuẩn đối chiếu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sai khi kết quả lệch với mô hình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3.2. Lỗi bảo mật phát hiện trong kiểm chứng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giải mã, dout_valid được bật vô điều kiện tại khối bản rõ cuối,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kể cả khi tag sẽ sai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 rõ có thể lộ ra trước khi xác thực xong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 sửa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 thanh ghi giữ bản rõ khối cuối tới khi kiểm tra tag xong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xuất dữ liệu khi tag khớp, không thêm chu kỳ xử lý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3.3. PPA ba phương án vi kiến trúc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036585" y="8606809"/>
            <a:ext cx="11918355" cy="79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Artix-7 xc7a35tcpg236-1, tổng hợp Out-of-Context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Freeform 30"/>
          <p:cNvSpPr/>
          <p:nvPr/>
        </p:nvSpPr>
        <p:spPr>
          <a:xfrm>
            <a:off x="1799796" y="2937196"/>
            <a:ext cx="14391933" cy="5570718"/>
          </a:xfrm>
          <a:custGeom>
            <a:avLst/>
            <a:gdLst/>
            <a:ahLst/>
            <a:cxnLst/>
            <a:rect l="l" t="t" r="r" b="b"/>
            <a:pathLst>
              <a:path w="14391933" h="5570718">
                <a:moveTo>
                  <a:pt x="0" y="0"/>
                </a:moveTo>
                <a:lnTo>
                  <a:pt x="14391933" y="0"/>
                </a:lnTo>
                <a:lnTo>
                  <a:pt x="14391933" y="5570718"/>
                </a:lnTo>
                <a:lnTo>
                  <a:pt x="0" y="5570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3.4. Diện tích và thông lượng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7101867" y="2899096"/>
            <a:ext cx="8595115" cy="6635429"/>
          </a:xfrm>
          <a:custGeom>
            <a:avLst/>
            <a:gdLst/>
            <a:ahLst/>
            <a:cxnLst/>
            <a:rect l="l" t="t" r="r" b="b"/>
            <a:pathLst>
              <a:path w="8595115" h="6635429">
                <a:moveTo>
                  <a:pt x="0" y="0"/>
                </a:moveTo>
                <a:lnTo>
                  <a:pt x="8595115" y="0"/>
                </a:lnTo>
                <a:lnTo>
                  <a:pt x="8595115" y="6635429"/>
                </a:lnTo>
                <a:lnTo>
                  <a:pt x="0" y="6635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8999" y="3063571"/>
            <a:ext cx="5570575" cy="411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RPC=1 và RPC=2 nằm trên biên Pareto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RPC=4 bị lấn át hoàn toàn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3.5. Hiệu suất diện tích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7221498" y="2737648"/>
            <a:ext cx="10040840" cy="6796877"/>
          </a:xfrm>
          <a:custGeom>
            <a:avLst/>
            <a:gdLst/>
            <a:ahLst/>
            <a:cxnLst/>
            <a:rect l="l" t="t" r="r" b="b"/>
            <a:pathLst>
              <a:path w="10040840" h="6796877">
                <a:moveTo>
                  <a:pt x="0" y="0"/>
                </a:moveTo>
                <a:lnTo>
                  <a:pt x="10040840" y="0"/>
                </a:lnTo>
                <a:lnTo>
                  <a:pt x="10040840" y="6796877"/>
                </a:lnTo>
                <a:lnTo>
                  <a:pt x="0" y="6796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3630" y="2737171"/>
            <a:ext cx="6103830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Mbps/LUT tăng 13.4% từ RPC=1 sang RPC=2, giảm 43% ở RPC=4, thấp hơn cả RPC=1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Bốn vòng nối tiếp làm LUT tăng nhanh hơn tuyến tính và Fmax giảm gần một nửa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3.6. Kết quả trên ba dòng FPGA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2451525" y="2864092"/>
            <a:ext cx="13381227" cy="5771292"/>
          </a:xfrm>
          <a:custGeom>
            <a:avLst/>
            <a:gdLst/>
            <a:ahLst/>
            <a:cxnLst/>
            <a:rect l="l" t="t" r="r" b="b"/>
            <a:pathLst>
              <a:path w="13381227" h="5771292">
                <a:moveTo>
                  <a:pt x="0" y="0"/>
                </a:moveTo>
                <a:lnTo>
                  <a:pt x="13381226" y="0"/>
                </a:lnTo>
                <a:lnTo>
                  <a:pt x="13381226" y="5771292"/>
                </a:lnTo>
                <a:lnTo>
                  <a:pt x="0" y="57712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036585" y="8606809"/>
            <a:ext cx="12355815" cy="757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Cùng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RTL,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cùng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ràng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buộc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LUT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chênh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dưới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0.2%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3.7. Fmax trên ba dòng FPGA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7688247" y="2899096"/>
            <a:ext cx="9321995" cy="6711836"/>
          </a:xfrm>
          <a:custGeom>
            <a:avLst/>
            <a:gdLst/>
            <a:ahLst/>
            <a:cxnLst/>
            <a:rect l="l" t="t" r="r" b="b"/>
            <a:pathLst>
              <a:path w="9321995" h="6711836">
                <a:moveTo>
                  <a:pt x="0" y="0"/>
                </a:moveTo>
                <a:lnTo>
                  <a:pt x="9321995" y="0"/>
                </a:lnTo>
                <a:lnTo>
                  <a:pt x="9321995" y="6711837"/>
                </a:lnTo>
                <a:lnTo>
                  <a:pt x="0" y="6711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8999" y="2737171"/>
            <a:ext cx="6103830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Chênh lệch giữa ba dòng chip chỉ nằm ở Fmax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 ba dùng chung kiến trúc slice 7-series,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không dùng Block RAM hay DSP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3.8. Công suất, timing và đường tới hạn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suất on-chip 91 mW, trong đó 23 mW động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từ SAIF trích từ mô phỏng gate-level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WNS +0.013 ns, WHS +0.109 ns, WPWS +2.250 ns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endpoint nào vi phạm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Đường tới hạn là chuỗi CARRY4 từ phép so sánh tag 128 bit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 so sánh không thoát sớm nên có độ trễ cố định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3.9. So sánh với công trình liên quan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2450503" y="2899096"/>
            <a:ext cx="11783003" cy="5057932"/>
          </a:xfrm>
          <a:custGeom>
            <a:avLst/>
            <a:gdLst/>
            <a:ahLst/>
            <a:cxnLst/>
            <a:rect l="l" t="t" r="r" b="b"/>
            <a:pathLst>
              <a:path w="11783003" h="5057932">
                <a:moveTo>
                  <a:pt x="0" y="0"/>
                </a:moveTo>
                <a:lnTo>
                  <a:pt x="11783003" y="0"/>
                </a:lnTo>
                <a:lnTo>
                  <a:pt x="11783003" y="5057932"/>
                </a:lnTo>
                <a:lnTo>
                  <a:pt x="0" y="50579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450503" y="7937978"/>
            <a:ext cx="11918355" cy="1627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cấu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đối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chiếu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đều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v1.2</a:t>
            </a:r>
          </a:p>
          <a:p>
            <a:pPr algn="just">
              <a:lnSpc>
                <a:spcPts val="6552"/>
              </a:lnSpc>
            </a:pP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mang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đối</a:t>
            </a:r>
            <a:endParaRPr lang="en-US" sz="4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3630" y="1496427"/>
            <a:ext cx="17287561" cy="1335995"/>
            <a:chOff x="0" y="0"/>
            <a:chExt cx="23050081" cy="17813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050080" cy="1781325"/>
            </a:xfrm>
            <a:custGeom>
              <a:avLst/>
              <a:gdLst/>
              <a:ahLst/>
              <a:cxnLst/>
              <a:rect l="l" t="t" r="r" b="b"/>
              <a:pathLst>
                <a:path w="23050080" h="1781325">
                  <a:moveTo>
                    <a:pt x="0" y="0"/>
                  </a:moveTo>
                  <a:lnTo>
                    <a:pt x="23050080" y="0"/>
                  </a:lnTo>
                  <a:lnTo>
                    <a:pt x="23050080" y="1781325"/>
                  </a:lnTo>
                  <a:lnTo>
                    <a:pt x="0" y="17813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90209" r="4729" b="-1902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3050081" cy="17432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3.10. Vị trí trên không gian diện tích và thông lượng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7393883" y="2832421"/>
            <a:ext cx="9282033" cy="6702104"/>
          </a:xfrm>
          <a:custGeom>
            <a:avLst/>
            <a:gdLst/>
            <a:ahLst/>
            <a:cxnLst/>
            <a:rect l="l" t="t" r="r" b="b"/>
            <a:pathLst>
              <a:path w="9282033" h="6702104">
                <a:moveTo>
                  <a:pt x="0" y="0"/>
                </a:moveTo>
                <a:lnTo>
                  <a:pt x="9282033" y="0"/>
                </a:lnTo>
                <a:lnTo>
                  <a:pt x="9282033" y="6702104"/>
                </a:lnTo>
                <a:lnTo>
                  <a:pt x="0" y="6702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3630" y="2832421"/>
            <a:ext cx="6103830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Cao hơn Alharbi khoảng 7.8 lần, chủ yếu nhờ rate 128 bit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Malal Ascon-128a cao hơn đồ án nhờ unroll 4 vòng, đánh đổi Fmax 83 so với 182 MHz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0043" y="3638074"/>
            <a:ext cx="13766321" cy="2258930"/>
            <a:chOff x="0" y="0"/>
            <a:chExt cx="18355094" cy="3011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55097" cy="3011906"/>
            </a:xfrm>
            <a:custGeom>
              <a:avLst/>
              <a:gdLst/>
              <a:ahLst/>
              <a:cxnLst/>
              <a:rect l="l" t="t" r="r" b="b"/>
              <a:pathLst>
                <a:path w="18355097" h="3011906">
                  <a:moveTo>
                    <a:pt x="0" y="0"/>
                  </a:moveTo>
                  <a:lnTo>
                    <a:pt x="18355097" y="0"/>
                  </a:lnTo>
                  <a:lnTo>
                    <a:pt x="18355097" y="3011906"/>
                  </a:lnTo>
                  <a:lnTo>
                    <a:pt x="0" y="30119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745" b="-68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18355094" cy="2973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LUẬN VÀ HƯỚNG</a:t>
              </a:r>
            </a:p>
            <a:p>
              <a:pPr algn="l">
                <a:lnSpc>
                  <a:spcPts val="7873"/>
                </a:lnSpc>
              </a:pPr>
              <a:r>
                <a:rPr lang="en-US" sz="729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PHÁT TRIỂN CỦA ĐỀ TÀI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71483" y="1020985"/>
            <a:ext cx="2896076" cy="245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0"/>
              </a:lnSpc>
            </a:pPr>
            <a:r>
              <a:rPr lang="en-US" sz="17250" b="1">
                <a:solidFill>
                  <a:srgbClr val="FFFFFF">
                    <a:alpha val="65098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4.1. Kết quả đạt được và hạn chế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Đạt được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Lõi IP đúng đặc tả SP 800-232, kiểm chứng qua bốn tầng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 vi kiến trúc và ba dòng FPGA, vượt phạm vi tối thiểu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và khắc phục một lỗi bảo mật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Hạn chế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chạy được mô phỏng gate-level có chú thích SDF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xác nhận trên phần cứng vật lý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có biện pháp chống tấn công kênh biên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4.2. Hướng phát triển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Dựng lại thư viện mô phỏng bằng compile_simlib để chạy SDF đầy đủ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Tách phép so sánh tag ra module riêng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 phá cơ hội chia sẻ carry-chain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Masking bậc 1 hoặc threshold implementation cho tầng S-box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Tài liệu tham khảo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25178" y="2750010"/>
            <a:ext cx="17033919" cy="665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National Institute of Standards and Technology, "Ascon-Based Lightweight Cryptography Standards for Constrained Devices: Authenticated Encryption, Hash, and Extendable Output Functions," NIST SP 800-232, Aug. 2025.</a:t>
            </a:r>
          </a:p>
          <a:p>
            <a:pPr algn="l">
              <a:lnSpc>
                <a:spcPts val="5304"/>
              </a:lnSpc>
            </a:pPr>
            <a:endParaRPr lang="en-US" sz="3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304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Arm Limited, "AMBA APB Protocol Specification," ARM IHI 0024E (Issue E), Feb. 2023.</a:t>
            </a:r>
          </a:p>
          <a:p>
            <a:pPr algn="l">
              <a:lnSpc>
                <a:spcPts val="5304"/>
              </a:lnSpc>
            </a:pPr>
            <a:endParaRPr lang="en-US" sz="3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304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 National Institute of Standards and Technology, "Lightweight Cryptography Project — Ascon Known-Answer Tests," [Online]. Available: </a:t>
            </a:r>
            <a:r>
              <a:rPr lang="en-US" sz="3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csrc.nist.gov/projects/lightweight-cryptography"/>
              </a:rPr>
              <a:t>https://csrc.nist.gov/projects/lightweight-cryptography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Tài liệu tham khảo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25178" y="2860996"/>
            <a:ext cx="17033919" cy="6472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 A. R. Alharbi, A. Aljaedi, A. Aljuhni, M. K. Alghuson, H. Aldawood, and S. S. Jamal, "Evaluating Ascon Hardware on 7-Series FPGA Devices," IEEE Access, vol. 12, pp. 149076–149089, 2024, doi: 10.1109/ACCESS.2024.3471694.</a:t>
            </a:r>
          </a:p>
          <a:p>
            <a:pPr algn="l">
              <a:lnSpc>
                <a:spcPts val="468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A. Malal, "High-Performance FPGA Implementations of Lightweight ASCON-128 and ASCON-128a With Enhanced Throughput-to-Area Efficiency," in Proc. 2024 17th Int. Conf. Inf. Secur. Cryptol. (ISCTürkiye), Ankara, Turkiye, 2024, pp. 1–7, doi: 10.1109/ISCTrkiye64784.2024.10779273.</a:t>
            </a:r>
          </a:p>
          <a:p>
            <a:pPr algn="l">
              <a:lnSpc>
                <a:spcPts val="468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[6] H. A. Mohamed, M. Taher, H. M. Shousha, Z. Mohsen, M. M. Abdelrazik, Y. Ismail, and A. Saeed, "An efficient serialized hardware implementation of the ASCON algorithm," Scientific Reports, vol. 16, a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23197, 2026, d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i: 10.1038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41598-026-63223</a:t>
            </a:r>
            <a:r>
              <a:rPr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31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80043" y="3638074"/>
            <a:ext cx="13766321" cy="2258930"/>
            <a:chOff x="0" y="0"/>
            <a:chExt cx="18355094" cy="3011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55097" cy="3011906"/>
            </a:xfrm>
            <a:custGeom>
              <a:avLst/>
              <a:gdLst/>
              <a:ahLst/>
              <a:cxnLst/>
              <a:rect l="l" t="t" r="r" b="b"/>
              <a:pathLst>
                <a:path w="18355097" h="3011906">
                  <a:moveTo>
                    <a:pt x="0" y="0"/>
                  </a:moveTo>
                  <a:lnTo>
                    <a:pt x="18355097" y="0"/>
                  </a:lnTo>
                  <a:lnTo>
                    <a:pt x="18355097" y="3011906"/>
                  </a:lnTo>
                  <a:lnTo>
                    <a:pt x="0" y="30119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745" b="-68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57150"/>
              <a:ext cx="18355094" cy="2954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748"/>
                </a:lnSpc>
              </a:pPr>
              <a:r>
                <a:rPr lang="en-US" sz="8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HỎI VÀ ĐÁP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71483" y="1020985"/>
            <a:ext cx="2896076" cy="245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0"/>
              </a:lnSpc>
            </a:pPr>
            <a:r>
              <a:rPr lang="en-US" sz="17250" b="1">
                <a:solidFill>
                  <a:srgbClr val="FFFFFF">
                    <a:alpha val="65098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3.7. Fmax trên ba dòng FPGA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5211801" y="3041971"/>
            <a:ext cx="11862514" cy="6353859"/>
          </a:xfrm>
          <a:custGeom>
            <a:avLst/>
            <a:gdLst/>
            <a:ahLst/>
            <a:cxnLst/>
            <a:rect l="l" t="t" r="r" b="b"/>
            <a:pathLst>
              <a:path w="11862514" h="6353859">
                <a:moveTo>
                  <a:pt x="0" y="0"/>
                </a:moveTo>
                <a:lnTo>
                  <a:pt x="11862514" y="0"/>
                </a:lnTo>
                <a:lnTo>
                  <a:pt x="11862514" y="6353860"/>
                </a:lnTo>
                <a:lnTo>
                  <a:pt x="0" y="6353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1866" y="3005900"/>
            <a:ext cx="4451260" cy="411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RPC=1 trên xc7a35tcpg236-1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Block RAM Tile, 0 DSP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4" name="Freeform 14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6" name="Freeform 16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999" y="1555147"/>
            <a:ext cx="16470001" cy="1335995"/>
            <a:chOff x="0" y="0"/>
            <a:chExt cx="21960002" cy="17813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60001" cy="1781325"/>
            </a:xfrm>
            <a:custGeom>
              <a:avLst/>
              <a:gdLst/>
              <a:ahLst/>
              <a:cxnLst/>
              <a:rect l="l" t="t" r="r" b="b"/>
              <a:pathLst>
                <a:path w="21960001" h="1781325">
                  <a:moveTo>
                    <a:pt x="0" y="0"/>
                  </a:moveTo>
                  <a:lnTo>
                    <a:pt x="21960001" y="0"/>
                  </a:lnTo>
                  <a:lnTo>
                    <a:pt x="21960001" y="1781325"/>
                  </a:lnTo>
                  <a:lnTo>
                    <a:pt x="0" y="17813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90209" b="-1902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21960002" cy="1752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72"/>
                </a:lnSpc>
              </a:pPr>
              <a:r>
                <a:rPr lang="en-US" sz="59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2. Báo cáo Timing Summary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33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4689676" y="2833344"/>
            <a:ext cx="12569624" cy="6701181"/>
          </a:xfrm>
          <a:custGeom>
            <a:avLst/>
            <a:gdLst/>
            <a:ahLst/>
            <a:cxnLst/>
            <a:rect l="l" t="t" r="r" b="b"/>
            <a:pathLst>
              <a:path w="12569624" h="6701181">
                <a:moveTo>
                  <a:pt x="0" y="0"/>
                </a:moveTo>
                <a:lnTo>
                  <a:pt x="12569624" y="0"/>
                </a:lnTo>
                <a:lnTo>
                  <a:pt x="12569624" y="6701181"/>
                </a:lnTo>
                <a:lnTo>
                  <a:pt x="0" y="6701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8310" y="2938461"/>
            <a:ext cx="3602058" cy="24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RPC=1, chu kỳ 5.5 ns, sau đặt chỗ và đi dây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3. Lựa chọn chuẩn bus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Lõi là ngoại vi mật mã cấu hình qua bus,</a:t>
            </a: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phải datapath thông lượng cao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APB đơn giản và ít tài nguyên, đủ cho vai trò đó</a:t>
            </a:r>
          </a:p>
          <a:p>
            <a:pPr algn="l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Cần thông lượng cao hơn thì nâng lên AXI4-Stream hoặc thêm DMA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34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4. Thông lượng thực qua APB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Lõi zero-wait-state, mỗi giao dịch APB đúng 2 chu kỳ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lần ghi DIN                8 chu kỳ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lần ghi CMD              2 chu kỳ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Lõi xử lý, RPC=1         9 chu kỳ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lần đọc DOUT           8 chu kỳ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                         ~27 chu kỳ mỗi khối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Thông lượng hệ thống khoảng 860 Mbps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với 2592 Mbps tiệm cận của datapath lõi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35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5. Chống tấn công kênh biên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494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không có biện pháp chống DPA, SPA hay fault injection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Phạm vi đồ án dừng ở đúng chức năng và PPA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Hướng bổ sung là masking bậc 1 hoặc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threshold implementation cho tầng S-box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 phí diện tích tầng phi tuyến tăng 2 đến 3 lần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36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6. Miền đồng hồ, reset và báo lỗi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miền đồng hồ duy nhất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ascon_aead_fsm nhận trực tiếp pclk của APB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cần cơ chế đồng bộ CDC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Reset bất đồng bộ, tích cực mức thấp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pslverr được hiện thực thật, báo lỗi khi ghi lệnh xử lý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lúc din_full bằng 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7. Độ phủ kiểm chứng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659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Directed test theo vector chuẩn NIST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1089 vector encrypt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1089 vector decrypt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170 case lật bit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case biên APB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vector gate-level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đo code coverage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dùng constrained-random hay assertion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38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668474" y="-8670065"/>
            <a:ext cx="947328" cy="18291715"/>
            <a:chOff x="0" y="0"/>
            <a:chExt cx="1263104" cy="24388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gradFill rotWithShape="1">
              <a:gsLst>
                <a:gs pos="0">
                  <a:srgbClr val="10CD57">
                    <a:alpha val="100000"/>
                  </a:srgbClr>
                </a:gs>
                <a:gs pos="100000">
                  <a:srgbClr val="0271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670331" y="-8672198"/>
            <a:ext cx="947328" cy="18291715"/>
            <a:chOff x="0" y="0"/>
            <a:chExt cx="1263104" cy="24388953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1263142" cy="24388953"/>
            </a:xfrm>
            <a:custGeom>
              <a:avLst/>
              <a:gdLst/>
              <a:ahLst/>
              <a:cxnLst/>
              <a:rect l="l" t="t" r="r" b="b"/>
              <a:pathLst>
                <a:path w="1263142" h="24388953">
                  <a:moveTo>
                    <a:pt x="0" y="0"/>
                  </a:moveTo>
                  <a:lnTo>
                    <a:pt x="1263142" y="0"/>
                  </a:lnTo>
                  <a:lnTo>
                    <a:pt x="1263142" y="24388953"/>
                  </a:lnTo>
                  <a:lnTo>
                    <a:pt x="0" y="24388953"/>
                  </a:lnTo>
                  <a:close/>
                </a:path>
              </a:pathLst>
            </a:custGeom>
            <a:blipFill>
              <a:blip r:embed="rId2"/>
              <a:stretch>
                <a:fillRect l="-35093" r="-35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1866" y="248326"/>
            <a:ext cx="10947559" cy="42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457933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53596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362541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398078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9405385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8999" y="1555147"/>
            <a:ext cx="16470001" cy="1343950"/>
            <a:chOff x="0" y="0"/>
            <a:chExt cx="21960002" cy="17919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60001" cy="1791931"/>
            </a:xfrm>
            <a:custGeom>
              <a:avLst/>
              <a:gdLst/>
              <a:ahLst/>
              <a:cxnLst/>
              <a:rect l="l" t="t" r="r" b="b"/>
              <a:pathLst>
                <a:path w="21960001" h="1791931">
                  <a:moveTo>
                    <a:pt x="0" y="0"/>
                  </a:moveTo>
                  <a:lnTo>
                    <a:pt x="21960001" y="0"/>
                  </a:lnTo>
                  <a:lnTo>
                    <a:pt x="21960001" y="1791931"/>
                  </a:lnTo>
                  <a:lnTo>
                    <a:pt x="0" y="17919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9083" b="-188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960002" cy="175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gradFill>
                    <a:gsLst>
                      <a:gs pos="0">
                        <a:srgbClr val="027159">
                          <a:alpha val="100000"/>
                        </a:srgbClr>
                      </a:gs>
                      <a:gs pos="100000">
                        <a:srgbClr val="10CD57">
                          <a:alpha val="100000"/>
                        </a:srgbClr>
                      </a:gs>
                    </a:gsLst>
                    <a:lin ang="1620000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lục 8. S-box và lớp tuyến tính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0439" y="2914212"/>
            <a:ext cx="16287121" cy="577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ascon_round gồm ba thành phần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XOR hằng số vòng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ascon_sbox, S-box 5 bit áp song song trên 64 vị trí bit</a:t>
            </a: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ascon_linear, xoay phải kết hợp XOR</a:t>
            </a:r>
          </a:p>
          <a:p>
            <a:pPr algn="just">
              <a:lnSpc>
                <a:spcPts val="6552"/>
              </a:lnSpc>
            </a:pPr>
            <a:endParaRPr lang="en-US"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6552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Tất cả là mạch tổ hợp thuần túy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350346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34421" y="9534525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39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" y="-2287991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6214" y="0"/>
            <a:ext cx="6084589" cy="10287000"/>
            <a:chOff x="0" y="0"/>
            <a:chExt cx="8112785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2760" cy="13716000"/>
            </a:xfrm>
            <a:custGeom>
              <a:avLst/>
              <a:gdLst/>
              <a:ahLst/>
              <a:cxnLst/>
              <a:rect l="l" t="t" r="r" b="b"/>
              <a:pathLst>
                <a:path w="8112760" h="13716000">
                  <a:moveTo>
                    <a:pt x="0" y="0"/>
                  </a:moveTo>
                  <a:lnTo>
                    <a:pt x="8112760" y="0"/>
                  </a:lnTo>
                  <a:lnTo>
                    <a:pt x="811276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11998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6873" y="0"/>
            <a:ext cx="2707176" cy="10287000"/>
            <a:chOff x="0" y="0"/>
            <a:chExt cx="3609569" cy="13716000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3609594" cy="13716000"/>
            </a:xfrm>
            <a:custGeom>
              <a:avLst/>
              <a:gdLst/>
              <a:ahLst/>
              <a:cxnLst/>
              <a:rect l="l" t="t" r="r" b="b"/>
              <a:pathLst>
                <a:path w="3609594" h="13716000">
                  <a:moveTo>
                    <a:pt x="0" y="0"/>
                  </a:moveTo>
                  <a:lnTo>
                    <a:pt x="3609594" y="0"/>
                  </a:lnTo>
                  <a:lnTo>
                    <a:pt x="360959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907" r="-2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 rot="-5400000">
            <a:off x="-2614688" y="6739452"/>
            <a:ext cx="6076721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FACULTY OF COMPUTER ENGINEERING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719973" y="293294"/>
            <a:ext cx="4848044" cy="957948"/>
            <a:chOff x="0" y="0"/>
            <a:chExt cx="6464059" cy="1277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4173" cy="1277366"/>
            </a:xfrm>
            <a:custGeom>
              <a:avLst/>
              <a:gdLst/>
              <a:ahLst/>
              <a:cxnLst/>
              <a:rect l="l" t="t" r="r" b="b"/>
              <a:pathLst>
                <a:path w="6464173" h="1277366">
                  <a:moveTo>
                    <a:pt x="0" y="638683"/>
                  </a:moveTo>
                  <a:cubicBezTo>
                    <a:pt x="0" y="285877"/>
                    <a:pt x="285877" y="0"/>
                    <a:pt x="638683" y="0"/>
                  </a:cubicBezTo>
                  <a:lnTo>
                    <a:pt x="5825490" y="0"/>
                  </a:lnTo>
                  <a:cubicBezTo>
                    <a:pt x="6178169" y="0"/>
                    <a:pt x="6464173" y="285877"/>
                    <a:pt x="6464173" y="638683"/>
                  </a:cubicBezTo>
                  <a:cubicBezTo>
                    <a:pt x="6464173" y="991489"/>
                    <a:pt x="6178296" y="1277366"/>
                    <a:pt x="5825490" y="1277366"/>
                  </a:cubicBezTo>
                  <a:lnTo>
                    <a:pt x="638683" y="1277366"/>
                  </a:lnTo>
                  <a:cubicBezTo>
                    <a:pt x="285877" y="1277239"/>
                    <a:pt x="0" y="991362"/>
                    <a:pt x="0" y="6386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100000"/>
                  </a:srgbClr>
                </a:gs>
                <a:gs pos="100000">
                  <a:srgbClr val="752AFF">
                    <a:alpha val="100000"/>
                  </a:srgbClr>
                </a:gs>
              </a:gsLst>
              <a:lin ang="472936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7460" y="371332"/>
            <a:ext cx="4673079" cy="801872"/>
            <a:chOff x="0" y="0"/>
            <a:chExt cx="6230772" cy="1069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0747" cy="1069086"/>
            </a:xfrm>
            <a:custGeom>
              <a:avLst/>
              <a:gdLst/>
              <a:ahLst/>
              <a:cxnLst/>
              <a:rect l="l" t="t" r="r" b="b"/>
              <a:pathLst>
                <a:path w="6230747" h="1069086">
                  <a:moveTo>
                    <a:pt x="0" y="534543"/>
                  </a:moveTo>
                  <a:cubicBezTo>
                    <a:pt x="0" y="239395"/>
                    <a:pt x="239395" y="0"/>
                    <a:pt x="534543" y="0"/>
                  </a:cubicBezTo>
                  <a:lnTo>
                    <a:pt x="5696204" y="0"/>
                  </a:lnTo>
                  <a:cubicBezTo>
                    <a:pt x="5991479" y="0"/>
                    <a:pt x="6230747" y="239395"/>
                    <a:pt x="6230747" y="534543"/>
                  </a:cubicBezTo>
                  <a:cubicBezTo>
                    <a:pt x="6230747" y="829691"/>
                    <a:pt x="5991352" y="1069086"/>
                    <a:pt x="5696204" y="1069086"/>
                  </a:cubicBezTo>
                  <a:lnTo>
                    <a:pt x="534543" y="1069086"/>
                  </a:lnTo>
                  <a:cubicBezTo>
                    <a:pt x="239395" y="1069213"/>
                    <a:pt x="0" y="829818"/>
                    <a:pt x="0" y="5345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446" y="197910"/>
            <a:ext cx="1163307" cy="1152592"/>
            <a:chOff x="0" y="0"/>
            <a:chExt cx="1551076" cy="1536789"/>
          </a:xfrm>
        </p:grpSpPr>
        <p:sp>
          <p:nvSpPr>
            <p:cNvPr id="15" name="Freeform 15" descr="Icon  Description automatically generated with medium confidence"/>
            <p:cNvSpPr/>
            <p:nvPr/>
          </p:nvSpPr>
          <p:spPr>
            <a:xfrm>
              <a:off x="0" y="0"/>
              <a:ext cx="1551051" cy="1536827"/>
            </a:xfrm>
            <a:custGeom>
              <a:avLst/>
              <a:gdLst/>
              <a:ahLst/>
              <a:cxnLst/>
              <a:rect l="l" t="t" r="r" b="b"/>
              <a:pathLst>
                <a:path w="1551051" h="1536827">
                  <a:moveTo>
                    <a:pt x="0" y="0"/>
                  </a:moveTo>
                  <a:lnTo>
                    <a:pt x="1551051" y="0"/>
                  </a:lnTo>
                  <a:lnTo>
                    <a:pt x="155105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6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88247" y="233439"/>
            <a:ext cx="1307516" cy="1081516"/>
            <a:chOff x="0" y="0"/>
            <a:chExt cx="1743354" cy="1442022"/>
          </a:xfrm>
        </p:grpSpPr>
        <p:sp>
          <p:nvSpPr>
            <p:cNvPr id="17" name="Freeform 17" descr="A picture containing clipart, vector graphics  Description automatically generated"/>
            <p:cNvSpPr/>
            <p:nvPr/>
          </p:nvSpPr>
          <p:spPr>
            <a:xfrm>
              <a:off x="0" y="0"/>
              <a:ext cx="1743329" cy="1442085"/>
            </a:xfrm>
            <a:custGeom>
              <a:avLst/>
              <a:gdLst/>
              <a:ahLst/>
              <a:cxnLst/>
              <a:rect l="l" t="t" r="r" b="b"/>
              <a:pathLst>
                <a:path w="1743329" h="1442085">
                  <a:moveTo>
                    <a:pt x="0" y="0"/>
                  </a:moveTo>
                  <a:lnTo>
                    <a:pt x="1743329" y="0"/>
                  </a:lnTo>
                  <a:lnTo>
                    <a:pt x="1743329" y="1442085"/>
                  </a:lnTo>
                  <a:lnTo>
                    <a:pt x="0" y="14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r="-1" b="-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62338" y="364607"/>
            <a:ext cx="819198" cy="819198"/>
          </a:xfrm>
          <a:custGeom>
            <a:avLst/>
            <a:gdLst/>
            <a:ahLst/>
            <a:cxnLst/>
            <a:rect l="l" t="t" r="r" b="b"/>
            <a:pathLst>
              <a:path w="819198" h="819198">
                <a:moveTo>
                  <a:pt x="0" y="0"/>
                </a:moveTo>
                <a:lnTo>
                  <a:pt x="819198" y="0"/>
                </a:lnTo>
                <a:lnTo>
                  <a:pt x="819198" y="819198"/>
                </a:lnTo>
                <a:lnTo>
                  <a:pt x="0" y="81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blipFill>
              <a:blip r:embed="rId6"/>
              <a:stretch>
                <a:fillRect l="-189" r="-1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5232" y="2175643"/>
            <a:ext cx="15315943" cy="6434480"/>
            <a:chOff x="0" y="0"/>
            <a:chExt cx="20421257" cy="8579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21346" cy="8579358"/>
            </a:xfrm>
            <a:custGeom>
              <a:avLst/>
              <a:gdLst/>
              <a:ahLst/>
              <a:cxnLst/>
              <a:rect l="l" t="t" r="r" b="b"/>
              <a:pathLst>
                <a:path w="20421346" h="8579358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20189571" y="0"/>
                  </a:lnTo>
                  <a:cubicBezTo>
                    <a:pt x="20317586" y="0"/>
                    <a:pt x="20421346" y="103759"/>
                    <a:pt x="20421346" y="231775"/>
                  </a:cubicBezTo>
                  <a:lnTo>
                    <a:pt x="20421346" y="8347583"/>
                  </a:lnTo>
                  <a:cubicBezTo>
                    <a:pt x="20421346" y="8475599"/>
                    <a:pt x="20317586" y="8579358"/>
                    <a:pt x="20189571" y="8579358"/>
                  </a:cubicBezTo>
                  <a:lnTo>
                    <a:pt x="231775" y="8579358"/>
                  </a:lnTo>
                  <a:cubicBezTo>
                    <a:pt x="103759" y="8579358"/>
                    <a:pt x="0" y="8475599"/>
                    <a:pt x="0" y="8347583"/>
                  </a:cubicBezTo>
                  <a:close/>
                </a:path>
              </a:pathLst>
            </a:custGeom>
            <a:gradFill rotWithShape="1">
              <a:gsLst>
                <a:gs pos="0">
                  <a:srgbClr val="38EF7D">
                    <a:alpha val="40000"/>
                  </a:srgbClr>
                </a:gs>
                <a:gs pos="100000">
                  <a:srgbClr val="11998E">
                    <a:alpha val="40000"/>
                  </a:srgbClr>
                </a:gs>
              </a:gsLst>
              <a:lin ang="403271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2124"/>
            <a:ext cx="18291715" cy="10295487"/>
            <a:chOff x="0" y="0"/>
            <a:chExt cx="24388953" cy="137273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8953" cy="13727303"/>
            </a:xfrm>
            <a:custGeom>
              <a:avLst/>
              <a:gdLst/>
              <a:ahLst/>
              <a:cxnLst/>
              <a:rect l="l" t="t" r="r" b="b"/>
              <a:pathLst>
                <a:path w="24388953" h="13727303">
                  <a:moveTo>
                    <a:pt x="0" y="13196697"/>
                  </a:moveTo>
                  <a:cubicBezTo>
                    <a:pt x="0" y="13486637"/>
                    <a:pt x="234950" y="13721587"/>
                    <a:pt x="524891" y="13721587"/>
                  </a:cubicBezTo>
                  <a:lnTo>
                    <a:pt x="23864063" y="13721587"/>
                  </a:lnTo>
                  <a:cubicBezTo>
                    <a:pt x="24154003" y="13721587"/>
                    <a:pt x="24388953" y="13486637"/>
                    <a:pt x="24388953" y="13196697"/>
                  </a:cubicBezTo>
                  <a:lnTo>
                    <a:pt x="24388953" y="13727303"/>
                  </a:lnTo>
                  <a:lnTo>
                    <a:pt x="0" y="13727303"/>
                  </a:lnTo>
                  <a:close/>
                  <a:moveTo>
                    <a:pt x="0" y="0"/>
                  </a:moveTo>
                  <a:lnTo>
                    <a:pt x="24388953" y="0"/>
                  </a:lnTo>
                  <a:lnTo>
                    <a:pt x="24388953" y="530606"/>
                  </a:lnTo>
                  <a:cubicBezTo>
                    <a:pt x="24388953" y="240665"/>
                    <a:pt x="24154003" y="5715"/>
                    <a:pt x="23864063" y="5715"/>
                  </a:cubicBezTo>
                  <a:lnTo>
                    <a:pt x="524891" y="5715"/>
                  </a:lnTo>
                  <a:cubicBezTo>
                    <a:pt x="234950" y="5715"/>
                    <a:pt x="0" y="240665"/>
                    <a:pt x="0" y="530606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48975" y="9534525"/>
            <a:ext cx="6172200" cy="547688"/>
            <a:chOff x="0" y="0"/>
            <a:chExt cx="8229600" cy="73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9587" b="-1695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2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Copyrights 2024 CE-UIT. All Rights Reserved.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14542" y="498424"/>
            <a:ext cx="4114800" cy="547688"/>
            <a:chOff x="0" y="0"/>
            <a:chExt cx="5486400" cy="730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vi-VN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61374" y="3712893"/>
            <a:ext cx="11968966" cy="3617594"/>
            <a:chOff x="0" y="0"/>
            <a:chExt cx="12543513" cy="379124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543515" cy="3791248"/>
            </a:xfrm>
            <a:custGeom>
              <a:avLst/>
              <a:gdLst/>
              <a:ahLst/>
              <a:cxnLst/>
              <a:rect l="l" t="t" r="r" b="b"/>
              <a:pathLst>
                <a:path w="12543515" h="3791248">
                  <a:moveTo>
                    <a:pt x="0" y="0"/>
                  </a:moveTo>
                  <a:lnTo>
                    <a:pt x="12543515" y="0"/>
                  </a:lnTo>
                  <a:lnTo>
                    <a:pt x="12543515" y="3791248"/>
                  </a:lnTo>
                  <a:lnTo>
                    <a:pt x="0" y="379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4613" r="-46331" b="-340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76200"/>
              <a:ext cx="12543513" cy="37150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555"/>
                </a:lnSpc>
              </a:pPr>
              <a:r>
                <a:rPr lang="en-US" sz="106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 for Listening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2420</Words>
  <Application>Microsoft Office PowerPoint</Application>
  <PresentationFormat>Custom</PresentationFormat>
  <Paragraphs>354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Times New Roman Bold</vt:lpstr>
      <vt:lpstr>Arial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DACNBaoCaoCK</dc:title>
  <cp:lastModifiedBy>Hồ Thiện Nhân</cp:lastModifiedBy>
  <cp:revision>5</cp:revision>
  <dcterms:created xsi:type="dcterms:W3CDTF">2006-08-16T00:00:00Z</dcterms:created>
  <dcterms:modified xsi:type="dcterms:W3CDTF">2026-09-04T15:06:39Z</dcterms:modified>
  <dc:identifier>DAHUPhP9gSg</dc:identifier>
</cp:coreProperties>
</file>